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Libre Baskerville" panose="02000000000000000000" pitchFamily="2" charset="0"/>
      <p:regular r:id="rId15"/>
    </p:embeddedFont>
    <p:embeddedFont>
      <p:font typeface="Libre Baskerville Bold" panose="02000000000000000000" charset="0"/>
      <p:regular r:id="rId16"/>
    </p:embeddedFont>
    <p:embeddedFont>
      <p:font typeface="Public Sans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53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50977C-336B-4E88-AC61-F07F6B380D78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475DA0-974E-4BDF-9281-5D529C5EBE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9501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“Good [morning/afternoon]. My name is Nijgururaj Ashtagi, and this is my project </a:t>
            </a:r>
            <a:r>
              <a:rPr lang="en-US" i="1" dirty="0"/>
              <a:t>Electro Store</a:t>
            </a:r>
            <a:r>
              <a:rPr lang="en-US" dirty="0"/>
              <a:t> — an AI-powered e-commerce platform designed to provide a seamless shopping experience with an intelligent cart and virtual assistant. This presentation will walk through the system design, architecture, evaluation, and future scope.”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475DA0-974E-4BDF-9281-5D529C5EBEFC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78073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“Online shopping often lacks real-time support and context-aware interaction.</a:t>
            </a:r>
            <a:br>
              <a:rPr lang="en-US" dirty="0"/>
            </a:br>
            <a:r>
              <a:rPr lang="en-US" dirty="0"/>
              <a:t>Users struggle with managing carts, finding relevant products, or resolving issues quickly.</a:t>
            </a:r>
            <a:br>
              <a:rPr lang="en-US" dirty="0"/>
            </a:br>
            <a:r>
              <a:rPr lang="en-US" dirty="0"/>
              <a:t>My goal was to build a system that integrates conversational AI to guide users, make recommendations, and handle transactions smoothly.”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475DA0-974E-4BDF-9281-5D529C5EBEFC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99647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“Here’s the overall architecture.</a:t>
            </a:r>
            <a:br>
              <a:rPr lang="en-US" dirty="0"/>
            </a:br>
            <a:r>
              <a:rPr lang="en-US" dirty="0"/>
              <a:t>The React frontend communicates with a </a:t>
            </a:r>
            <a:r>
              <a:rPr lang="en-US" dirty="0" err="1"/>
              <a:t>FastAPI</a:t>
            </a:r>
            <a:r>
              <a:rPr lang="en-US" dirty="0"/>
              <a:t> backend through REST APIs.</a:t>
            </a:r>
            <a:br>
              <a:rPr lang="en-US" dirty="0"/>
            </a:br>
            <a:r>
              <a:rPr lang="en-US" dirty="0"/>
              <a:t>The backend connects with an AI layer built using </a:t>
            </a:r>
            <a:r>
              <a:rPr lang="en-US" dirty="0" err="1"/>
              <a:t>LangGraph</a:t>
            </a:r>
            <a:r>
              <a:rPr lang="en-US" dirty="0"/>
              <a:t> and OpenAI for intelligent recommendations.</a:t>
            </a:r>
            <a:br>
              <a:rPr lang="en-US" dirty="0"/>
            </a:br>
            <a:r>
              <a:rPr lang="en-US" dirty="0"/>
              <a:t>Data is temporarily stored in an in-memory database, but it’s designed for easy migration to a persistent database.”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475DA0-974E-4BDF-9281-5D529C5EBEFC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74161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“This shows the flow of the AI agent.</a:t>
            </a:r>
            <a:br>
              <a:rPr lang="en-US" dirty="0"/>
            </a:br>
            <a:r>
              <a:rPr lang="en-US" dirty="0"/>
              <a:t>When the user sends a query, the system identifies intent — like asking for a product or filtering options.</a:t>
            </a:r>
            <a:br>
              <a:rPr lang="en-US" dirty="0"/>
            </a:br>
            <a:r>
              <a:rPr lang="en-US" dirty="0"/>
              <a:t>The agent retrieves relevant data, generates a structured recommendation, and sends a coherent response back to the frontend.</a:t>
            </a:r>
            <a:br>
              <a:rPr lang="en-US" dirty="0"/>
            </a:br>
            <a:r>
              <a:rPr lang="en-US" dirty="0" err="1"/>
              <a:t>LangGraph</a:t>
            </a:r>
            <a:r>
              <a:rPr lang="en-US" dirty="0"/>
              <a:t> helps manage this flow efficiently using a graph-based design.”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475DA0-974E-4BDF-9281-5D529C5EBEFC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37119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“The frontend uses React 18 for building the UI and React Router for navigation.</a:t>
            </a:r>
            <a:br>
              <a:rPr lang="en-US" dirty="0"/>
            </a:br>
            <a:r>
              <a:rPr lang="en-US" dirty="0"/>
              <a:t>Context APIs manage the user’s session and cart globally.</a:t>
            </a:r>
            <a:br>
              <a:rPr lang="en-US" dirty="0"/>
            </a:br>
            <a:r>
              <a:rPr lang="en-US" dirty="0"/>
              <a:t>For user experience, React </a:t>
            </a:r>
            <a:r>
              <a:rPr lang="en-US" dirty="0" err="1"/>
              <a:t>Toastify</a:t>
            </a:r>
            <a:r>
              <a:rPr lang="en-US" dirty="0"/>
              <a:t> and Axios are used for notifications and API communication.</a:t>
            </a:r>
            <a:br>
              <a:rPr lang="en-US" dirty="0"/>
            </a:br>
            <a:r>
              <a:rPr lang="en-US" dirty="0"/>
              <a:t>The design is responsive with clean, minimal styling using CSS Grid and Flexbox.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475DA0-974E-4BDF-9281-5D529C5EBEFC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43074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“The backend is powered by </a:t>
            </a:r>
            <a:r>
              <a:rPr lang="en-US" dirty="0" err="1"/>
              <a:t>FastAPI</a:t>
            </a:r>
            <a:r>
              <a:rPr lang="en-US" dirty="0"/>
              <a:t> for high performance and clean routing.</a:t>
            </a:r>
            <a:br>
              <a:rPr lang="en-US" dirty="0"/>
            </a:br>
            <a:r>
              <a:rPr lang="en-US" dirty="0" err="1"/>
              <a:t>Pydantic</a:t>
            </a:r>
            <a:r>
              <a:rPr lang="en-US" dirty="0"/>
              <a:t> validates all data models, while </a:t>
            </a:r>
            <a:r>
              <a:rPr lang="en-US" dirty="0" err="1"/>
              <a:t>Uvicorn</a:t>
            </a:r>
            <a:r>
              <a:rPr lang="en-US" dirty="0"/>
              <a:t> runs the ASGI server.</a:t>
            </a:r>
            <a:br>
              <a:rPr lang="en-US" dirty="0"/>
            </a:br>
            <a:r>
              <a:rPr lang="en-US" dirty="0"/>
              <a:t>The AI layer uses </a:t>
            </a:r>
            <a:r>
              <a:rPr lang="en-US" dirty="0" err="1"/>
              <a:t>LangGraph</a:t>
            </a:r>
            <a:r>
              <a:rPr lang="en-US" dirty="0"/>
              <a:t> for agent orchestration and OpenAI for generating natural language recommendations.</a:t>
            </a:r>
            <a:br>
              <a:rPr lang="en-US" dirty="0"/>
            </a:br>
            <a:r>
              <a:rPr lang="en-US" dirty="0"/>
              <a:t>Authentication is handled through JWT tokens.”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475DA0-974E-4BDF-9281-5D529C5EBEFC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01055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“Here’s the actual interface of the application.</a:t>
            </a:r>
            <a:br>
              <a:rPr lang="en-US" dirty="0"/>
            </a:br>
            <a:r>
              <a:rPr lang="en-US" dirty="0"/>
              <a:t>Users can browse products, add items to their cart, and chat with the AI assistant for product recommendations or help.”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475DA0-974E-4BDF-9281-5D529C5EBEFC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19764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“The recommendation logic uses an LLM pipeline.</a:t>
            </a:r>
            <a:br>
              <a:rPr lang="en-US" dirty="0"/>
            </a:br>
            <a:r>
              <a:rPr lang="en-US" dirty="0"/>
              <a:t>The prompt structure passes a fixed system instruction defining the AI’s role, and the query is passed as a parameter — this reduces token count and improves response efficiency.</a:t>
            </a:r>
            <a:br>
              <a:rPr lang="en-US" dirty="0"/>
            </a:br>
            <a:r>
              <a:rPr lang="en-US" dirty="0"/>
              <a:t>Few-shot examples and contextual memory optimization further enhance accuracy and coherence.”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475DA0-974E-4BDF-9281-5D529C5EBEFC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33470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“We evaluated the system using several strategies:</a:t>
            </a:r>
          </a:p>
          <a:p>
            <a:r>
              <a:rPr lang="en-US" b="1" dirty="0"/>
              <a:t>Prompt structuring</a:t>
            </a:r>
            <a:r>
              <a:rPr lang="en-US" dirty="0"/>
              <a:t> reduced token usage by nearly 40%.</a:t>
            </a:r>
          </a:p>
          <a:p>
            <a:r>
              <a:rPr lang="en-US" b="1" dirty="0"/>
              <a:t>Few-shot examples</a:t>
            </a:r>
            <a:r>
              <a:rPr lang="en-US" dirty="0"/>
              <a:t> improved intent recognition accuracy.</a:t>
            </a:r>
          </a:p>
          <a:p>
            <a:r>
              <a:rPr lang="en-US" b="1" dirty="0" err="1"/>
              <a:t>LangGraph</a:t>
            </a:r>
            <a:r>
              <a:rPr lang="en-US" b="1" dirty="0"/>
              <a:t> memory</a:t>
            </a:r>
            <a:r>
              <a:rPr lang="en-US" dirty="0"/>
              <a:t> optimized response time and contextual continuity.</a:t>
            </a:r>
            <a:br>
              <a:rPr lang="en-US" dirty="0"/>
            </a:br>
            <a:r>
              <a:rPr lang="en-US" dirty="0"/>
              <a:t>Human testing showed over 90% satisfaction for relevance and clarity.”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475DA0-974E-4BDF-9281-5D529C5EBEFC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59006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“In conclusion, Phase 1 successfully delivered a modular, AI-integrated recommendation system with real-time interaction.</a:t>
            </a:r>
            <a:br>
              <a:rPr lang="en-US" dirty="0"/>
            </a:br>
            <a:r>
              <a:rPr lang="en-US" dirty="0"/>
              <a:t>For Phase 2, I’ll extend this to include order placement, shipment tracking, and fraud detection agents using the same architecture — making it a complete intelligent customer service platform.”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475DA0-974E-4BDF-9281-5D529C5EBEFC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32021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“Here are the key frameworks and libraries used — including </a:t>
            </a:r>
            <a:r>
              <a:rPr lang="en-US" dirty="0" err="1"/>
              <a:t>FastAPI</a:t>
            </a:r>
            <a:r>
              <a:rPr lang="en-US" dirty="0"/>
              <a:t>, </a:t>
            </a:r>
            <a:r>
              <a:rPr lang="en-US" dirty="0" err="1"/>
              <a:t>LangGraph</a:t>
            </a:r>
            <a:r>
              <a:rPr lang="en-US" dirty="0"/>
              <a:t>, </a:t>
            </a:r>
            <a:r>
              <a:rPr lang="en-US" dirty="0" err="1"/>
              <a:t>LangChain</a:t>
            </a:r>
            <a:r>
              <a:rPr lang="en-US" dirty="0"/>
              <a:t>, OpenAI, and React.</a:t>
            </a:r>
            <a:br>
              <a:rPr lang="en-US" dirty="0"/>
            </a:br>
            <a:r>
              <a:rPr lang="en-US" dirty="0"/>
              <a:t>These tools together enabled the integration of AI and web development efficiently.”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475DA0-974E-4BDF-9281-5D529C5EBEFC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14778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“Thank you for your attention! I’d be happy to take any questions or feedback.”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475DA0-974E-4BDF-9281-5D529C5EBEFC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62317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python.langchain.com" TargetMode="External"/><Relationship Id="rId3" Type="http://schemas.openxmlformats.org/officeDocument/2006/relationships/hyperlink" Target="https://fastapi.tiangolo.com" TargetMode="External"/><Relationship Id="rId7" Type="http://schemas.openxmlformats.org/officeDocument/2006/relationships/hyperlink" Target="https://langchain-ai.github.io/langgraph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platform.openai.com/docs" TargetMode="External"/><Relationship Id="rId5" Type="http://schemas.openxmlformats.org/officeDocument/2006/relationships/hyperlink" Target="https://www.uvicorn.org" TargetMode="External"/><Relationship Id="rId10" Type="http://schemas.openxmlformats.org/officeDocument/2006/relationships/hyperlink" Target="https://axios-http.com" TargetMode="External"/><Relationship Id="rId4" Type="http://schemas.openxmlformats.org/officeDocument/2006/relationships/hyperlink" Target="https://docs.pydantic.dev" TargetMode="External"/><Relationship Id="rId9" Type="http://schemas.openxmlformats.org/officeDocument/2006/relationships/hyperlink" Target="https://react.dev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35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753100" y="4152900"/>
            <a:ext cx="6781800" cy="1486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31"/>
              </a:lnSpc>
            </a:pPr>
            <a:r>
              <a:rPr lang="en-US" sz="5301" b="1" spc="-106" dirty="0">
                <a:solidFill>
                  <a:srgbClr val="F6F2E5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ELECTRO STORE</a:t>
            </a:r>
          </a:p>
          <a:p>
            <a:pPr algn="l">
              <a:lnSpc>
                <a:spcPts val="5831"/>
              </a:lnSpc>
            </a:pPr>
            <a:endParaRPr lang="en-US" sz="5301" b="1" spc="-106" dirty="0">
              <a:solidFill>
                <a:srgbClr val="F6F2E5"/>
              </a:solidFill>
              <a:latin typeface="Libre Baskerville Bold"/>
              <a:ea typeface="Libre Baskerville Bold"/>
              <a:cs typeface="Libre Baskerville Bold"/>
              <a:sym typeface="Libre Baskerville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5040312" y="5084780"/>
            <a:ext cx="8207376" cy="1109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spc="64" dirty="0">
                <a:solidFill>
                  <a:srgbClr val="F6F2E5"/>
                </a:solidFill>
                <a:latin typeface="Public Sans"/>
                <a:ea typeface="Public Sans"/>
                <a:cs typeface="Public Sans"/>
                <a:sym typeface="Public Sans"/>
              </a:rPr>
              <a:t>Seamless Shopping Experience with Intelligent Cart &amp; AI Chatbot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430000" y="8039100"/>
            <a:ext cx="8207376" cy="1109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spc="64" dirty="0">
                <a:solidFill>
                  <a:srgbClr val="F6F2E5"/>
                </a:solidFill>
                <a:latin typeface="Public Sans"/>
                <a:ea typeface="Public Sans"/>
                <a:cs typeface="Public Sans"/>
                <a:sym typeface="Public Sans"/>
              </a:rPr>
              <a:t>Team #7:</a:t>
            </a:r>
          </a:p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 spc="64" dirty="0">
                <a:solidFill>
                  <a:srgbClr val="F6F2E5"/>
                </a:solidFill>
                <a:latin typeface="Public Sans"/>
                <a:ea typeface="Public Sans"/>
                <a:cs typeface="Public Sans"/>
                <a:sym typeface="Public Sans"/>
              </a:rPr>
              <a:t>A20577685 - Nijgururaj Ashtagi</a:t>
            </a: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E599AD86-BB96-5DA6-E180-D5A4B6801EF1}"/>
              </a:ext>
            </a:extLst>
          </p:cNvPr>
          <p:cNvSpPr txBox="1"/>
          <p:nvPr/>
        </p:nvSpPr>
        <p:spPr>
          <a:xfrm>
            <a:off x="1028700" y="1235731"/>
            <a:ext cx="8207376" cy="1080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2400" spc="64" dirty="0">
                <a:solidFill>
                  <a:srgbClr val="F6F2E5"/>
                </a:solidFill>
                <a:latin typeface="Public Sans"/>
                <a:ea typeface="Public Sans"/>
                <a:cs typeface="Public Sans"/>
                <a:sym typeface="Public Sans"/>
              </a:rPr>
              <a:t>Project Phase 1</a:t>
            </a:r>
          </a:p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2400" spc="64" dirty="0">
                <a:solidFill>
                  <a:srgbClr val="F6F2E5"/>
                </a:solidFill>
                <a:latin typeface="Public Sans"/>
                <a:ea typeface="Public Sans"/>
                <a:cs typeface="Public Sans"/>
                <a:sym typeface="Public Sans"/>
              </a:rPr>
              <a:t>CSP584 Enterprise Web Applications</a:t>
            </a:r>
            <a:endParaRPr lang="en-US" sz="3200" spc="64" dirty="0">
              <a:solidFill>
                <a:srgbClr val="F6F2E5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3287766"/>
            <a:ext cx="7351892" cy="3011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121">
                <a:solidFill>
                  <a:srgbClr val="3B352E"/>
                </a:solidFill>
                <a:latin typeface="Public Sans"/>
                <a:ea typeface="Public Sans"/>
                <a:cs typeface="Public Sans"/>
                <a:sym typeface="Public Sans"/>
              </a:rPr>
              <a:t>Problem Statement:</a:t>
            </a:r>
          </a:p>
          <a:p>
            <a:pPr marL="458126" lvl="1" indent="-229063" algn="l">
              <a:lnSpc>
                <a:spcPts val="2970"/>
              </a:lnSpc>
              <a:buFont typeface="Arial"/>
              <a:buChar char="•"/>
            </a:pPr>
            <a:r>
              <a:rPr lang="en-US" sz="2121">
                <a:solidFill>
                  <a:srgbClr val="3B352E"/>
                </a:solidFill>
                <a:latin typeface="Public Sans"/>
                <a:ea typeface="Public Sans"/>
                <a:cs typeface="Public Sans"/>
                <a:sym typeface="Public Sans"/>
              </a:rPr>
              <a:t>Online shopping lacks real-time assistance and seamless interaction.</a:t>
            </a:r>
          </a:p>
          <a:p>
            <a:pPr marL="458126" lvl="1" indent="-229063" algn="l">
              <a:lnSpc>
                <a:spcPts val="2970"/>
              </a:lnSpc>
              <a:buFont typeface="Arial"/>
              <a:buChar char="•"/>
            </a:pPr>
            <a:r>
              <a:rPr lang="en-US" sz="2121">
                <a:solidFill>
                  <a:srgbClr val="3B352E"/>
                </a:solidFill>
                <a:latin typeface="Public Sans"/>
                <a:ea typeface="Public Sans"/>
                <a:cs typeface="Public Sans"/>
                <a:sym typeface="Public Sans"/>
              </a:rPr>
              <a:t>Users struggle with managing carts, understanding product details, or resolving issues quickly.</a:t>
            </a:r>
          </a:p>
          <a:p>
            <a:pPr marL="458126" lvl="1" indent="-229063" algn="l">
              <a:lnSpc>
                <a:spcPts val="2970"/>
              </a:lnSpc>
              <a:buFont typeface="Arial"/>
              <a:buChar char="•"/>
            </a:pPr>
            <a:r>
              <a:rPr lang="en-US" sz="2121">
                <a:solidFill>
                  <a:srgbClr val="3B352E"/>
                </a:solidFill>
                <a:latin typeface="Public Sans"/>
                <a:ea typeface="Public Sans"/>
                <a:cs typeface="Public Sans"/>
                <a:sym typeface="Public Sans"/>
              </a:rPr>
              <a:t>E-commerce sites need personalized conversational agents and efficient backend integration.</a:t>
            </a:r>
          </a:p>
          <a:p>
            <a:pPr marL="0" lvl="0" indent="0" algn="l">
              <a:lnSpc>
                <a:spcPts val="2970"/>
              </a:lnSpc>
            </a:pPr>
            <a:endParaRPr lang="en-US" sz="2121">
              <a:solidFill>
                <a:srgbClr val="3B352E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028700" y="1593579"/>
            <a:ext cx="7351892" cy="712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878"/>
              </a:lnSpc>
            </a:pPr>
            <a:r>
              <a:rPr lang="en-US" sz="4198" b="1">
                <a:solidFill>
                  <a:srgbClr val="3B352E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Project Overview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907408" y="3287766"/>
            <a:ext cx="7351892" cy="3011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121">
                <a:solidFill>
                  <a:srgbClr val="3B352E"/>
                </a:solidFill>
                <a:latin typeface="Public Sans"/>
                <a:ea typeface="Public Sans"/>
                <a:cs typeface="Public Sans"/>
                <a:sym typeface="Public Sans"/>
              </a:rPr>
              <a:t>Project Goals:</a:t>
            </a:r>
          </a:p>
          <a:p>
            <a:pPr marL="458126" lvl="1" indent="-229063" algn="l">
              <a:lnSpc>
                <a:spcPts val="2970"/>
              </a:lnSpc>
              <a:buFont typeface="Arial"/>
              <a:buChar char="•"/>
            </a:pPr>
            <a:r>
              <a:rPr lang="en-US" sz="2121">
                <a:solidFill>
                  <a:srgbClr val="3B352E"/>
                </a:solidFill>
                <a:latin typeface="Public Sans"/>
                <a:ea typeface="Public Sans"/>
                <a:cs typeface="Public Sans"/>
                <a:sym typeface="Public Sans"/>
              </a:rPr>
              <a:t>Build a scalable full-stack app integrating FastAPI + React.</a:t>
            </a:r>
          </a:p>
          <a:p>
            <a:pPr marL="458126" lvl="1" indent="-229063" algn="l">
              <a:lnSpc>
                <a:spcPts val="2970"/>
              </a:lnSpc>
              <a:buFont typeface="Arial"/>
              <a:buChar char="•"/>
            </a:pPr>
            <a:r>
              <a:rPr lang="en-US" sz="2121">
                <a:solidFill>
                  <a:srgbClr val="3B352E"/>
                </a:solidFill>
                <a:latin typeface="Public Sans"/>
                <a:ea typeface="Public Sans"/>
                <a:cs typeface="Public Sans"/>
                <a:sym typeface="Public Sans"/>
              </a:rPr>
              <a:t>Enable authentication, cart management, and AI chatbot.</a:t>
            </a:r>
          </a:p>
          <a:p>
            <a:pPr marL="458126" lvl="1" indent="-229063" algn="l">
              <a:lnSpc>
                <a:spcPts val="2970"/>
              </a:lnSpc>
              <a:buFont typeface="Arial"/>
              <a:buChar char="•"/>
            </a:pPr>
            <a:r>
              <a:rPr lang="en-US" sz="2121">
                <a:solidFill>
                  <a:srgbClr val="3B352E"/>
                </a:solidFill>
                <a:latin typeface="Public Sans"/>
                <a:ea typeface="Public Sans"/>
                <a:cs typeface="Public Sans"/>
                <a:sym typeface="Public Sans"/>
              </a:rPr>
              <a:t>Design for modular expansion — future agents for refund, replace, and escalate flows.</a:t>
            </a:r>
          </a:p>
          <a:p>
            <a:pPr marL="0" lvl="0" indent="0" algn="l">
              <a:lnSpc>
                <a:spcPts val="2970"/>
              </a:lnSpc>
            </a:pPr>
            <a:endParaRPr lang="en-US" sz="2121">
              <a:solidFill>
                <a:srgbClr val="3B352E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027820" y="745550"/>
            <a:ext cx="8488043" cy="8795899"/>
          </a:xfrm>
          <a:custGeom>
            <a:avLst/>
            <a:gdLst/>
            <a:ahLst/>
            <a:cxnLst/>
            <a:rect l="l" t="t" r="r" b="b"/>
            <a:pathLst>
              <a:path w="8488043" h="8795899">
                <a:moveTo>
                  <a:pt x="0" y="0"/>
                </a:moveTo>
                <a:lnTo>
                  <a:pt x="8488043" y="0"/>
                </a:lnTo>
                <a:lnTo>
                  <a:pt x="8488043" y="8795900"/>
                </a:lnTo>
                <a:lnTo>
                  <a:pt x="0" y="87959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1147971" y="4279878"/>
            <a:ext cx="4728759" cy="1641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647"/>
              </a:lnSpc>
            </a:pPr>
            <a:r>
              <a:rPr lang="en-US" sz="4748" b="1">
                <a:solidFill>
                  <a:srgbClr val="3B352E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High Level </a:t>
            </a:r>
          </a:p>
          <a:p>
            <a:pPr marL="0" lvl="0" indent="0" algn="just">
              <a:lnSpc>
                <a:spcPts val="6647"/>
              </a:lnSpc>
            </a:pPr>
            <a:r>
              <a:rPr lang="en-US" sz="4748" b="1">
                <a:solidFill>
                  <a:srgbClr val="3B352E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187241" y="2247900"/>
            <a:ext cx="9913517" cy="6659811"/>
          </a:xfrm>
          <a:custGeom>
            <a:avLst/>
            <a:gdLst/>
            <a:ahLst/>
            <a:cxnLst/>
            <a:rect l="l" t="t" r="r" b="b"/>
            <a:pathLst>
              <a:path w="9006633" h="6004422">
                <a:moveTo>
                  <a:pt x="0" y="0"/>
                </a:moveTo>
                <a:lnTo>
                  <a:pt x="9006634" y="0"/>
                </a:lnTo>
                <a:lnTo>
                  <a:pt x="9006634" y="6004422"/>
                </a:lnTo>
                <a:lnTo>
                  <a:pt x="0" y="60044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1028700" y="942975"/>
            <a:ext cx="6965082" cy="803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6647"/>
              </a:lnSpc>
            </a:pPr>
            <a:r>
              <a:rPr lang="en-US" sz="4748" b="1">
                <a:solidFill>
                  <a:srgbClr val="3B352E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Agent Architecture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028700" y="4279878"/>
            <a:ext cx="4728759" cy="1641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647"/>
              </a:lnSpc>
            </a:pPr>
            <a:r>
              <a:rPr lang="en-US" sz="4748" b="1">
                <a:solidFill>
                  <a:srgbClr val="3B352E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Tech Stack -</a:t>
            </a:r>
          </a:p>
          <a:p>
            <a:pPr marL="0" lvl="0" indent="0" algn="just">
              <a:lnSpc>
                <a:spcPts val="6647"/>
              </a:lnSpc>
            </a:pPr>
            <a:r>
              <a:rPr lang="en-US" sz="4748" b="1">
                <a:solidFill>
                  <a:srgbClr val="3B352E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Frontend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3A796CA-78C5-81DF-0AF7-88828E1648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3935320"/>
              </p:ext>
            </p:extLst>
          </p:nvPr>
        </p:nvGraphicFramePr>
        <p:xfrm>
          <a:off x="7086600" y="1162051"/>
          <a:ext cx="9601200" cy="7962897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1672157466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66734622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664901344"/>
                    </a:ext>
                  </a:extLst>
                </a:gridCol>
              </a:tblGrid>
              <a:tr h="5428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effectLst/>
                        </a:rPr>
                        <a:t>Layer</a:t>
                      </a:r>
                    </a:p>
                  </a:txBody>
                  <a:tcPr marL="59205" marR="59205" marT="29603" marB="29603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5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effectLst/>
                        </a:rPr>
                        <a:t>Technology</a:t>
                      </a:r>
                    </a:p>
                  </a:txBody>
                  <a:tcPr marL="59205" marR="59205" marT="29603" marB="29603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5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effectLst/>
                        </a:rPr>
                        <a:t>Description</a:t>
                      </a:r>
                    </a:p>
                  </a:txBody>
                  <a:tcPr marL="59205" marR="59205" marT="29603" marB="29603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5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2669762"/>
                  </a:ext>
                </a:extLst>
              </a:tr>
              <a:tr h="5428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effectLst/>
                        </a:rPr>
                        <a:t>Core Framework</a:t>
                      </a:r>
                    </a:p>
                  </a:txBody>
                  <a:tcPr marL="59205" marR="59205" marT="29603" marB="29603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5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</a:rPr>
                        <a:t>React 18</a:t>
                      </a:r>
                    </a:p>
                  </a:txBody>
                  <a:tcPr marL="59205" marR="59205" marT="29603" marB="29603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B6B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</a:rPr>
                        <a:t>Frontend UI library</a:t>
                      </a:r>
                    </a:p>
                  </a:txBody>
                  <a:tcPr marL="59205" marR="59205" marT="29603" marB="29603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B6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803406"/>
                  </a:ext>
                </a:extLst>
              </a:tr>
              <a:tr h="54289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000">
                        <a:effectLst/>
                      </a:endParaRPr>
                    </a:p>
                  </a:txBody>
                  <a:tcPr marL="59205" marR="59205" marT="29603" marB="29603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5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</a:rPr>
                        <a:t>React Router DOM</a:t>
                      </a:r>
                    </a:p>
                  </a:txBody>
                  <a:tcPr marL="59205" marR="59205" marT="29603" marB="29603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B6B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</a:rPr>
                        <a:t>Handles client-side routing</a:t>
                      </a:r>
                    </a:p>
                  </a:txBody>
                  <a:tcPr marL="59205" marR="59205" marT="29603" marB="29603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B6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8867865"/>
                  </a:ext>
                </a:extLst>
              </a:tr>
              <a:tr h="723941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000">
                        <a:effectLst/>
                      </a:endParaRPr>
                    </a:p>
                  </a:txBody>
                  <a:tcPr marL="59205" marR="59205" marT="29603" marB="29603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5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</a:rPr>
                        <a:t>React Scripts</a:t>
                      </a:r>
                    </a:p>
                  </a:txBody>
                  <a:tcPr marL="59205" marR="59205" marT="29603" marB="29603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B6B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</a:rPr>
                        <a:t>Build and bundling toolchain</a:t>
                      </a:r>
                    </a:p>
                  </a:txBody>
                  <a:tcPr marL="59205" marR="59205" marT="29603" marB="29603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B6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9312600"/>
                  </a:ext>
                </a:extLst>
              </a:tr>
              <a:tr h="7239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effectLst/>
                        </a:rPr>
                        <a:t>State Management</a:t>
                      </a:r>
                    </a:p>
                  </a:txBody>
                  <a:tcPr marL="59205" marR="59205" marT="29603" marB="29603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5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effectLst/>
                        </a:rPr>
                        <a:t>React Context API</a:t>
                      </a:r>
                    </a:p>
                  </a:txBody>
                  <a:tcPr marL="59205" marR="59205" marT="29603" marB="29603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B6B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</a:rPr>
                        <a:t>Global app state management</a:t>
                      </a:r>
                    </a:p>
                  </a:txBody>
                  <a:tcPr marL="59205" marR="59205" marT="29603" marB="29603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B6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5382781"/>
                  </a:ext>
                </a:extLst>
              </a:tr>
              <a:tr h="723941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000">
                        <a:effectLst/>
                      </a:endParaRPr>
                    </a:p>
                  </a:txBody>
                  <a:tcPr marL="59205" marR="59205" marT="29603" marB="29603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5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</a:rPr>
                        <a:t>AuthContext</a:t>
                      </a:r>
                    </a:p>
                  </a:txBody>
                  <a:tcPr marL="59205" marR="59205" marT="29603" marB="29603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B6B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</a:rPr>
                        <a:t>Manages user authentication</a:t>
                      </a:r>
                    </a:p>
                  </a:txBody>
                  <a:tcPr marL="59205" marR="59205" marT="29603" marB="29603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B6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0847338"/>
                  </a:ext>
                </a:extLst>
              </a:tr>
              <a:tr h="54289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000">
                        <a:effectLst/>
                      </a:endParaRPr>
                    </a:p>
                  </a:txBody>
                  <a:tcPr marL="59205" marR="59205" marT="29603" marB="29603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5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</a:rPr>
                        <a:t>CartContext</a:t>
                      </a:r>
                    </a:p>
                  </a:txBody>
                  <a:tcPr marL="59205" marR="59205" marT="29603" marB="29603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B6B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</a:rPr>
                        <a:t>Tracks shopping cart state</a:t>
                      </a:r>
                    </a:p>
                  </a:txBody>
                  <a:tcPr marL="59205" marR="59205" marT="29603" marB="29603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B6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1124786"/>
                  </a:ext>
                </a:extLst>
              </a:tr>
              <a:tr h="7239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effectLst/>
                        </a:rPr>
                        <a:t>UI / UX Libraries</a:t>
                      </a:r>
                    </a:p>
                  </a:txBody>
                  <a:tcPr marL="59205" marR="59205" marT="29603" marB="29603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5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</a:rPr>
                        <a:t>React Icons</a:t>
                      </a:r>
                    </a:p>
                  </a:txBody>
                  <a:tcPr marL="59205" marR="59205" marT="29603" marB="29603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B6B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</a:rPr>
                        <a:t>Icon set for UI components</a:t>
                      </a:r>
                    </a:p>
                  </a:txBody>
                  <a:tcPr marL="59205" marR="59205" marT="29603" marB="29603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B6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8578801"/>
                  </a:ext>
                </a:extLst>
              </a:tr>
              <a:tr h="54289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000">
                        <a:effectLst/>
                      </a:endParaRPr>
                    </a:p>
                  </a:txBody>
                  <a:tcPr marL="59205" marR="59205" marT="29603" marB="29603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5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</a:rPr>
                        <a:t>React Toastify</a:t>
                      </a:r>
                    </a:p>
                  </a:txBody>
                  <a:tcPr marL="59205" marR="59205" marT="29603" marB="29603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B6B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</a:rPr>
                        <a:t>Toast notifications</a:t>
                      </a:r>
                    </a:p>
                  </a:txBody>
                  <a:tcPr marL="59205" marR="59205" marT="29603" marB="29603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B6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2431695"/>
                  </a:ext>
                </a:extLst>
              </a:tr>
              <a:tr h="723941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000">
                        <a:effectLst/>
                      </a:endParaRPr>
                    </a:p>
                  </a:txBody>
                  <a:tcPr marL="59205" marR="59205" marT="29603" marB="29603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5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</a:rPr>
                        <a:t>Axios</a:t>
                      </a:r>
                    </a:p>
                  </a:txBody>
                  <a:tcPr marL="59205" marR="59205" marT="29603" marB="29603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B6B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</a:rPr>
                        <a:t>HTTP client for API requests</a:t>
                      </a:r>
                    </a:p>
                  </a:txBody>
                  <a:tcPr marL="59205" marR="59205" marT="29603" marB="29603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B6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815706"/>
                  </a:ext>
                </a:extLst>
              </a:tr>
              <a:tr h="5428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effectLst/>
                        </a:rPr>
                        <a:t>Styling</a:t>
                      </a:r>
                    </a:p>
                  </a:txBody>
                  <a:tcPr marL="59205" marR="59205" marT="29603" marB="29603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5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</a:rPr>
                        <a:t>CSS3 (Flexbox/Grid)</a:t>
                      </a:r>
                    </a:p>
                  </a:txBody>
                  <a:tcPr marL="59205" marR="59205" marT="29603" marB="29603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B6B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</a:rPr>
                        <a:t>Layout and styling</a:t>
                      </a:r>
                    </a:p>
                  </a:txBody>
                  <a:tcPr marL="59205" marR="59205" marT="29603" marB="29603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B6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9258081"/>
                  </a:ext>
                </a:extLst>
              </a:tr>
              <a:tr h="54289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000">
                        <a:effectLst/>
                      </a:endParaRPr>
                    </a:p>
                  </a:txBody>
                  <a:tcPr marL="59205" marR="59205" marT="29603" marB="29603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5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</a:rPr>
                        <a:t>Responsive Design</a:t>
                      </a:r>
                    </a:p>
                  </a:txBody>
                  <a:tcPr marL="59205" marR="59205" marT="29603" marB="29603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B6B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</a:rPr>
                        <a:t>Mobile-friendly interface</a:t>
                      </a:r>
                    </a:p>
                  </a:txBody>
                  <a:tcPr marL="59205" marR="59205" marT="29603" marB="29603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B6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073546"/>
                  </a:ext>
                </a:extLst>
              </a:tr>
              <a:tr h="54289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000">
                        <a:effectLst/>
                      </a:endParaRPr>
                    </a:p>
                  </a:txBody>
                  <a:tcPr marL="59205" marR="59205" marT="29603" marB="29603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5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</a:rPr>
                        <a:t>Modern UI/UX</a:t>
                      </a:r>
                    </a:p>
                  </a:txBody>
                  <a:tcPr marL="59205" marR="59205" marT="29603" marB="29603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B6B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effectLst/>
                        </a:rPr>
                        <a:t>Clean and intuitive visuals</a:t>
                      </a:r>
                    </a:p>
                  </a:txBody>
                  <a:tcPr marL="59205" marR="59205" marT="29603" marB="29603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B6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2542709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3582EBA3-F087-A3B4-AA42-8591CE3DC3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8175" y="1525588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028700" y="4279878"/>
            <a:ext cx="4728759" cy="1641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647"/>
              </a:lnSpc>
            </a:pPr>
            <a:r>
              <a:rPr lang="en-US" sz="4748" b="1">
                <a:solidFill>
                  <a:srgbClr val="3B352E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Tech Stack -</a:t>
            </a:r>
          </a:p>
          <a:p>
            <a:pPr marL="0" lvl="0" indent="0" algn="just">
              <a:lnSpc>
                <a:spcPts val="6647"/>
              </a:lnSpc>
            </a:pPr>
            <a:r>
              <a:rPr lang="en-US" sz="4748" b="1">
                <a:solidFill>
                  <a:srgbClr val="3B352E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Backend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FB4A29B-FB42-89DB-495B-F42AA23BFB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6616508"/>
              </p:ext>
            </p:extLst>
          </p:nvPr>
        </p:nvGraphicFramePr>
        <p:xfrm>
          <a:off x="6857999" y="1257299"/>
          <a:ext cx="9653586" cy="8077189"/>
        </p:xfrm>
        <a:graphic>
          <a:graphicData uri="http://schemas.openxmlformats.org/drawingml/2006/table">
            <a:tbl>
              <a:tblPr/>
              <a:tblGrid>
                <a:gridCol w="3217862">
                  <a:extLst>
                    <a:ext uri="{9D8B030D-6E8A-4147-A177-3AD203B41FA5}">
                      <a16:colId xmlns:a16="http://schemas.microsoft.com/office/drawing/2014/main" val="2677830914"/>
                    </a:ext>
                  </a:extLst>
                </a:gridCol>
                <a:gridCol w="3217862">
                  <a:extLst>
                    <a:ext uri="{9D8B030D-6E8A-4147-A177-3AD203B41FA5}">
                      <a16:colId xmlns:a16="http://schemas.microsoft.com/office/drawing/2014/main" val="3130469120"/>
                    </a:ext>
                  </a:extLst>
                </a:gridCol>
                <a:gridCol w="3217862">
                  <a:extLst>
                    <a:ext uri="{9D8B030D-6E8A-4147-A177-3AD203B41FA5}">
                      <a16:colId xmlns:a16="http://schemas.microsoft.com/office/drawing/2014/main" val="2535597655"/>
                    </a:ext>
                  </a:extLst>
                </a:gridCol>
              </a:tblGrid>
              <a:tr h="6993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effectLst/>
                        </a:rPr>
                        <a:t>Layer</a:t>
                      </a:r>
                    </a:p>
                  </a:txBody>
                  <a:tcPr marL="62140" marR="62140" marT="31070" marB="3107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5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effectLst/>
                        </a:rPr>
                        <a:t>Technology</a:t>
                      </a:r>
                    </a:p>
                  </a:txBody>
                  <a:tcPr marL="62140" marR="62140" marT="31070" marB="3107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5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effectLst/>
                        </a:rPr>
                        <a:t>Description</a:t>
                      </a:r>
                    </a:p>
                  </a:txBody>
                  <a:tcPr marL="62140" marR="62140" marT="31070" marB="3107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5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8612199"/>
                  </a:ext>
                </a:extLst>
              </a:tr>
              <a:tr h="7762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effectLst/>
                        </a:rPr>
                        <a:t>Core Framework</a:t>
                      </a:r>
                    </a:p>
                  </a:txBody>
                  <a:tcPr marL="62140" marR="62140" marT="31070" marB="3107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5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</a:rPr>
                        <a:t>FastAPI</a:t>
                      </a:r>
                    </a:p>
                  </a:txBody>
                  <a:tcPr marL="62140" marR="62140" marT="31070" marB="3107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B6B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</a:rPr>
                        <a:t>Modern Python web framework</a:t>
                      </a:r>
                    </a:p>
                  </a:txBody>
                  <a:tcPr marL="62140" marR="62140" marT="31070" marB="3107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B6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9128296"/>
                  </a:ext>
                </a:extLst>
              </a:tr>
              <a:tr h="699304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000">
                        <a:effectLst/>
                      </a:endParaRPr>
                    </a:p>
                  </a:txBody>
                  <a:tcPr marL="62140" marR="62140" marT="31070" marB="3107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5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</a:rPr>
                        <a:t>Pydantic</a:t>
                      </a:r>
                    </a:p>
                  </a:txBody>
                  <a:tcPr marL="62140" marR="62140" marT="31070" marB="3107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B6B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</a:rPr>
                        <a:t>Data validation and typing</a:t>
                      </a:r>
                    </a:p>
                  </a:txBody>
                  <a:tcPr marL="62140" marR="62140" marT="31070" marB="3107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B6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727590"/>
                  </a:ext>
                </a:extLst>
              </a:tr>
              <a:tr h="699304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000">
                        <a:effectLst/>
                      </a:endParaRPr>
                    </a:p>
                  </a:txBody>
                  <a:tcPr marL="62140" marR="62140" marT="31070" marB="3107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5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</a:rPr>
                        <a:t>Uvicorn</a:t>
                      </a:r>
                    </a:p>
                  </a:txBody>
                  <a:tcPr marL="62140" marR="62140" marT="31070" marB="3107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B6B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</a:rPr>
                        <a:t>ASGI server for FastAPI</a:t>
                      </a:r>
                    </a:p>
                  </a:txBody>
                  <a:tcPr marL="62140" marR="62140" marT="31070" marB="3107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B6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7897506"/>
                  </a:ext>
                </a:extLst>
              </a:tr>
              <a:tr h="7762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effectLst/>
                        </a:rPr>
                        <a:t>AI Layer</a:t>
                      </a:r>
                    </a:p>
                  </a:txBody>
                  <a:tcPr marL="62140" marR="62140" marT="31070" marB="3107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5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 err="1">
                          <a:effectLst/>
                        </a:rPr>
                        <a:t>LangGraph</a:t>
                      </a:r>
                      <a:endParaRPr lang="en-IN" sz="2000" dirty="0">
                        <a:effectLst/>
                      </a:endParaRPr>
                    </a:p>
                  </a:txBody>
                  <a:tcPr marL="62140" marR="62140" marT="31070" marB="3107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B6B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</a:rPr>
                        <a:t>Graph-based AI agent framework</a:t>
                      </a:r>
                    </a:p>
                  </a:txBody>
                  <a:tcPr marL="62140" marR="62140" marT="31070" marB="3107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B6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5990366"/>
                  </a:ext>
                </a:extLst>
              </a:tr>
              <a:tr h="699304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000">
                        <a:effectLst/>
                      </a:endParaRPr>
                    </a:p>
                  </a:txBody>
                  <a:tcPr marL="62140" marR="62140" marT="31070" marB="3107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5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</a:rPr>
                        <a:t>LangChain</a:t>
                      </a:r>
                    </a:p>
                  </a:txBody>
                  <a:tcPr marL="62140" marR="62140" marT="31070" marB="3107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B6B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</a:rPr>
                        <a:t>LLM orchestration layer</a:t>
                      </a:r>
                    </a:p>
                  </a:txBody>
                  <a:tcPr marL="62140" marR="62140" marT="31070" marB="3107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B6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9246268"/>
                  </a:ext>
                </a:extLst>
              </a:tr>
              <a:tr h="77627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000">
                        <a:effectLst/>
                      </a:endParaRPr>
                    </a:p>
                  </a:txBody>
                  <a:tcPr marL="62140" marR="62140" marT="31070" marB="3107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5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effectLst/>
                        </a:rPr>
                        <a:t>OpenAI (gpt-4o-mini)</a:t>
                      </a:r>
                    </a:p>
                  </a:txBody>
                  <a:tcPr marL="62140" marR="62140" marT="31070" marB="3107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B6B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</a:rPr>
                        <a:t>Language model for responses</a:t>
                      </a:r>
                    </a:p>
                  </a:txBody>
                  <a:tcPr marL="62140" marR="62140" marT="31070" marB="3107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B6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8980445"/>
                  </a:ext>
                </a:extLst>
              </a:tr>
              <a:tr h="6993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effectLst/>
                        </a:rPr>
                        <a:t>Auth &amp; Security</a:t>
                      </a:r>
                    </a:p>
                  </a:txBody>
                  <a:tcPr marL="62140" marR="62140" marT="31070" marB="3107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5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</a:rPr>
                        <a:t>PyJWT</a:t>
                      </a:r>
                    </a:p>
                  </a:txBody>
                  <a:tcPr marL="62140" marR="62140" marT="31070" marB="3107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B6B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</a:rPr>
                        <a:t>JWT token handling</a:t>
                      </a:r>
                    </a:p>
                  </a:txBody>
                  <a:tcPr marL="62140" marR="62140" marT="31070" marB="3107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B6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6817704"/>
                  </a:ext>
                </a:extLst>
              </a:tr>
              <a:tr h="77627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000">
                        <a:effectLst/>
                      </a:endParaRPr>
                    </a:p>
                  </a:txBody>
                  <a:tcPr marL="62140" marR="62140" marT="31070" marB="3107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5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</a:rPr>
                        <a:t>HTTPBearer</a:t>
                      </a:r>
                    </a:p>
                  </a:txBody>
                  <a:tcPr marL="62140" marR="62140" marT="31070" marB="3107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B6B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effectLst/>
                        </a:rPr>
                        <a:t>Token-based authentication</a:t>
                      </a:r>
                    </a:p>
                  </a:txBody>
                  <a:tcPr marL="62140" marR="62140" marT="31070" marB="3107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B6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6833439"/>
                  </a:ext>
                </a:extLst>
              </a:tr>
              <a:tr h="7762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effectLst/>
                        </a:rPr>
                        <a:t>Data Layer</a:t>
                      </a:r>
                    </a:p>
                  </a:txBody>
                  <a:tcPr marL="62140" marR="62140" marT="31070" marB="3107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5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</a:rPr>
                        <a:t>Mock DB (Dicts)</a:t>
                      </a:r>
                    </a:p>
                  </a:txBody>
                  <a:tcPr marL="62140" marR="62140" marT="31070" marB="3107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B6B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</a:rPr>
                        <a:t>In-memory user/product storage</a:t>
                      </a:r>
                    </a:p>
                  </a:txBody>
                  <a:tcPr marL="62140" marR="62140" marT="31070" marB="3107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B6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5612308"/>
                  </a:ext>
                </a:extLst>
              </a:tr>
              <a:tr h="699304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000">
                        <a:effectLst/>
                      </a:endParaRPr>
                    </a:p>
                  </a:txBody>
                  <a:tcPr marL="62140" marR="62140" marT="31070" marB="3107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5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</a:rPr>
                        <a:t>In-Memory Storage</a:t>
                      </a:r>
                    </a:p>
                  </a:txBody>
                  <a:tcPr marL="62140" marR="62140" marT="31070" marB="3107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B6B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effectLst/>
                        </a:rPr>
                        <a:t>Temporary dev data store</a:t>
                      </a:r>
                    </a:p>
                  </a:txBody>
                  <a:tcPr marL="62140" marR="62140" marT="31070" marB="3107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B6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9091342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888B4395-C97F-3A1D-155B-99DEF1D357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6413" y="16002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825391" y="1825960"/>
            <a:ext cx="14790726" cy="7432340"/>
          </a:xfrm>
          <a:custGeom>
            <a:avLst/>
            <a:gdLst/>
            <a:ahLst/>
            <a:cxnLst/>
            <a:rect l="l" t="t" r="r" b="b"/>
            <a:pathLst>
              <a:path w="14790726" h="7432340">
                <a:moveTo>
                  <a:pt x="0" y="0"/>
                </a:moveTo>
                <a:lnTo>
                  <a:pt x="14790725" y="0"/>
                </a:lnTo>
                <a:lnTo>
                  <a:pt x="14790725" y="7432340"/>
                </a:lnTo>
                <a:lnTo>
                  <a:pt x="0" y="74323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1727385" y="199587"/>
            <a:ext cx="4962523" cy="1572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38"/>
              </a:lnSpc>
            </a:pPr>
            <a:r>
              <a:rPr lang="en-US" sz="4527" b="1">
                <a:solidFill>
                  <a:srgbClr val="3B352E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Frontend Screenshots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149874" y="8465439"/>
            <a:ext cx="5988253" cy="1499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48"/>
              </a:lnSpc>
            </a:pPr>
            <a:r>
              <a:rPr lang="en-US" sz="4320" b="1">
                <a:solidFill>
                  <a:srgbClr val="3B352E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Recommendations</a:t>
            </a:r>
          </a:p>
          <a:p>
            <a:pPr marL="0" lvl="0" indent="0" algn="l">
              <a:lnSpc>
                <a:spcPts val="6048"/>
              </a:lnSpc>
            </a:pPr>
            <a:r>
              <a:rPr lang="en-US" sz="4320" b="1">
                <a:solidFill>
                  <a:srgbClr val="3B352E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based on user query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028700" y="4365816"/>
            <a:ext cx="5572015" cy="1498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46"/>
              </a:lnSpc>
            </a:pPr>
            <a:r>
              <a:rPr lang="en-US" sz="2890" b="1">
                <a:solidFill>
                  <a:srgbClr val="3B352E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Product Filtering Logic (LLM-Based Recommendation System)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CD2CA5-FA40-D135-84AD-6164E20C61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1205995"/>
            <a:ext cx="11644960" cy="787500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028700" y="1476375"/>
            <a:ext cx="5572015" cy="488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46"/>
              </a:lnSpc>
            </a:pPr>
            <a:r>
              <a:rPr lang="en-US" sz="2890" b="1">
                <a:solidFill>
                  <a:srgbClr val="3B352E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Analysis and Evaluations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F7FC8E0-3CAF-53E5-E76F-715D1936E1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3655294"/>
              </p:ext>
            </p:extLst>
          </p:nvPr>
        </p:nvGraphicFramePr>
        <p:xfrm>
          <a:off x="4114800" y="2324100"/>
          <a:ext cx="10058400" cy="7110175"/>
        </p:xfrm>
        <a:graphic>
          <a:graphicData uri="http://schemas.openxmlformats.org/drawingml/2006/table">
            <a:tbl>
              <a:tblPr/>
              <a:tblGrid>
                <a:gridCol w="3352800">
                  <a:extLst>
                    <a:ext uri="{9D8B030D-6E8A-4147-A177-3AD203B41FA5}">
                      <a16:colId xmlns:a16="http://schemas.microsoft.com/office/drawing/2014/main" val="2980843388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4206760331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1577200066"/>
                    </a:ext>
                  </a:extLst>
                </a:gridCol>
              </a:tblGrid>
              <a:tr h="9812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effectLst/>
                        </a:rPr>
                        <a:t>Strategy</a:t>
                      </a:r>
                    </a:p>
                  </a:txBody>
                  <a:tcPr marL="58083" marR="58083" marT="29042" marB="29042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5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effectLst/>
                        </a:rPr>
                        <a:t>Description</a:t>
                      </a:r>
                    </a:p>
                  </a:txBody>
                  <a:tcPr marL="58083" marR="58083" marT="29042" marB="29042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5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effectLst/>
                        </a:rPr>
                        <a:t>Impact</a:t>
                      </a:r>
                    </a:p>
                  </a:txBody>
                  <a:tcPr marL="58083" marR="58083" marT="29042" marB="29042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5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253879"/>
                  </a:ext>
                </a:extLst>
              </a:tr>
              <a:tr h="19765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effectLst/>
                        </a:rPr>
                        <a:t>Prompt Structuring (System + Query Separation)</a:t>
                      </a:r>
                    </a:p>
                  </a:txBody>
                  <a:tcPr marL="58083" marR="58083" marT="29042" marB="29042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52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US" sz="2000" b="0" i="0" dirty="0">
                          <a:solidFill>
                            <a:srgbClr val="000000"/>
                          </a:solidFill>
                          <a:effectLst/>
                        </a:rPr>
                        <a:t>The </a:t>
                      </a:r>
                      <a:r>
                        <a:rPr lang="en-US" sz="2000" b="1" i="0" dirty="0">
                          <a:solidFill>
                            <a:srgbClr val="000000"/>
                          </a:solidFill>
                          <a:effectLst/>
                        </a:rPr>
                        <a:t>system prompt</a:t>
                      </a:r>
                      <a:r>
                        <a:rPr lang="en-US" sz="2000" b="0" i="0" dirty="0">
                          <a:solidFill>
                            <a:srgbClr val="000000"/>
                          </a:solidFill>
                          <a:effectLst/>
                        </a:rPr>
                        <a:t> defines the agent’s fixed behavior, and the </a:t>
                      </a:r>
                      <a:r>
                        <a:rPr lang="en-US" sz="2000" b="1" i="0" dirty="0">
                          <a:solidFill>
                            <a:srgbClr val="000000"/>
                          </a:solidFill>
                          <a:effectLst/>
                        </a:rPr>
                        <a:t>user query</a:t>
                      </a:r>
                      <a:r>
                        <a:rPr lang="en-US" sz="2000" b="0" i="0" dirty="0">
                          <a:solidFill>
                            <a:srgbClr val="000000"/>
                          </a:solidFill>
                          <a:effectLst/>
                        </a:rPr>
                        <a:t> is passed as a parameter — minimizing repeated context and </a:t>
                      </a:r>
                      <a:r>
                        <a:rPr lang="en-US" sz="2000" b="1" i="0" dirty="0">
                          <a:solidFill>
                            <a:srgbClr val="000000"/>
                          </a:solidFill>
                          <a:effectLst/>
                        </a:rPr>
                        <a:t>reducing token usage</a:t>
                      </a:r>
                      <a:r>
                        <a:rPr lang="en-US" sz="2000" b="0" i="0" dirty="0">
                          <a:solidFill>
                            <a:srgbClr val="000000"/>
                          </a:solidFill>
                          <a:effectLst/>
                        </a:rPr>
                        <a:t>.</a:t>
                      </a:r>
                      <a:endParaRPr lang="en-US" sz="2000" dirty="0">
                        <a:effectLst/>
                      </a:endParaRPr>
                    </a:p>
                  </a:txBody>
                  <a:tcPr marL="58083" marR="58083" marT="29042" marB="29042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B6B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effectLst/>
                        </a:rPr>
                        <a:t>↓ token cost, ↑ response consistency</a:t>
                      </a:r>
                    </a:p>
                  </a:txBody>
                  <a:tcPr marL="58083" marR="58083" marT="29042" marB="29042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B6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4435241"/>
                  </a:ext>
                </a:extLst>
              </a:tr>
              <a:tr h="17070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effectLst/>
                        </a:rPr>
                        <a:t>Few-Shot Examples for Intent Alignment</a:t>
                      </a:r>
                    </a:p>
                  </a:txBody>
                  <a:tcPr marL="58083" marR="58083" marT="29042" marB="29042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5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</a:rPr>
                        <a:t>Added short labeled examples in system prompt to guide model on recognizing user intent (e.g., budget-based, spec-based).</a:t>
                      </a:r>
                    </a:p>
                  </a:txBody>
                  <a:tcPr marL="58083" marR="58083" marT="29042" marB="29042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B6B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</a:rPr>
                        <a:t>↑ accuracy and relevance of recommendations</a:t>
                      </a:r>
                    </a:p>
                  </a:txBody>
                  <a:tcPr marL="58083" marR="58083" marT="29042" marB="29042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B6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8139998"/>
                  </a:ext>
                </a:extLst>
              </a:tr>
              <a:tr h="1167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effectLst/>
                        </a:rPr>
                        <a:t>Contextual Memory Optimization</a:t>
                      </a:r>
                    </a:p>
                  </a:txBody>
                  <a:tcPr marL="58083" marR="58083" marT="29042" marB="29042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5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</a:rPr>
                        <a:t>Used LangGraph memory nodes to store last user query + response without full context replay.</a:t>
                      </a:r>
                    </a:p>
                  </a:txBody>
                  <a:tcPr marL="58083" marR="58083" marT="29042" marB="29042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B6B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</a:rPr>
                        <a:t>↓ latency, ↑ coherence across conversations</a:t>
                      </a:r>
                    </a:p>
                  </a:txBody>
                  <a:tcPr marL="58083" marR="58083" marT="29042" marB="29042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B6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442185"/>
                  </a:ext>
                </a:extLst>
              </a:tr>
              <a:tr h="1167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effectLst/>
                        </a:rPr>
                        <a:t>Response Validation Layer</a:t>
                      </a:r>
                    </a:p>
                  </a:txBody>
                  <a:tcPr marL="58083" marR="58083" marT="29042" marB="29042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5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</a:rPr>
                        <a:t>Implemented schema-based output validation (JSON fields: name, price, category).</a:t>
                      </a:r>
                    </a:p>
                  </a:txBody>
                  <a:tcPr marL="58083" marR="58083" marT="29042" marB="29042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B6B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effectLst/>
                        </a:rPr>
                        <a:t>Ensures structured, error-free responses</a:t>
                      </a:r>
                    </a:p>
                  </a:txBody>
                  <a:tcPr marL="58083" marR="58083" marT="29042" marB="29042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B6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443621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9FF1EC38-5651-E019-2BA0-6A75AC369A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8975" y="16002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476375"/>
            <a:ext cx="5572015" cy="488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46"/>
              </a:lnSpc>
            </a:pPr>
            <a:r>
              <a:rPr lang="en-US" sz="2890" b="1">
                <a:solidFill>
                  <a:srgbClr val="3B352E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🧩 Conclusion &amp; Next Phase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3074853"/>
            <a:ext cx="16045607" cy="51542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28"/>
              </a:lnSpc>
              <a:spcBef>
                <a:spcPct val="0"/>
              </a:spcBef>
            </a:pPr>
            <a:r>
              <a:rPr lang="en-US" sz="2663" b="1" dirty="0">
                <a:solidFill>
                  <a:srgbClr val="3B352E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Conclusion:</a:t>
            </a:r>
          </a:p>
          <a:p>
            <a:pPr marL="510211" lvl="1" indent="-255106" algn="l">
              <a:lnSpc>
                <a:spcPts val="3308"/>
              </a:lnSpc>
              <a:spcBef>
                <a:spcPct val="0"/>
              </a:spcBef>
              <a:buFont typeface="Arial"/>
              <a:buChar char="•"/>
            </a:pPr>
            <a:r>
              <a:rPr lang="en-US" sz="2363" dirty="0">
                <a:solidFill>
                  <a:srgbClr val="3B352E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Successfully built a modular pipeline integrating AI-driven product recommendations.</a:t>
            </a:r>
          </a:p>
          <a:p>
            <a:pPr marL="510211" lvl="1" indent="-255106" algn="l">
              <a:lnSpc>
                <a:spcPts val="3308"/>
              </a:lnSpc>
              <a:spcBef>
                <a:spcPct val="0"/>
              </a:spcBef>
              <a:buFont typeface="Arial"/>
              <a:buChar char="•"/>
            </a:pPr>
            <a:r>
              <a:rPr lang="en-US" sz="2363" dirty="0">
                <a:solidFill>
                  <a:srgbClr val="3B352E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Demonstrated real-time filtering and response handling using structured LLM outputs.</a:t>
            </a:r>
          </a:p>
          <a:p>
            <a:pPr marL="510211" lvl="1" indent="-255106" algn="l">
              <a:lnSpc>
                <a:spcPts val="3308"/>
              </a:lnSpc>
              <a:spcBef>
                <a:spcPct val="0"/>
              </a:spcBef>
              <a:buFont typeface="Arial"/>
              <a:buChar char="•"/>
            </a:pPr>
            <a:r>
              <a:rPr lang="en-US" sz="2363" dirty="0">
                <a:solidFill>
                  <a:srgbClr val="3B352E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Improved code modularity and error resilience with clear payload–response handling.</a:t>
            </a:r>
          </a:p>
          <a:p>
            <a:pPr algn="l">
              <a:lnSpc>
                <a:spcPts val="3308"/>
              </a:lnSpc>
              <a:spcBef>
                <a:spcPct val="0"/>
              </a:spcBef>
            </a:pPr>
            <a:endParaRPr lang="en-US" sz="2363" dirty="0">
              <a:solidFill>
                <a:srgbClr val="3B352E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algn="l">
              <a:lnSpc>
                <a:spcPts val="3728"/>
              </a:lnSpc>
              <a:spcBef>
                <a:spcPct val="0"/>
              </a:spcBef>
            </a:pPr>
            <a:r>
              <a:rPr lang="en-US" sz="2663" b="1" dirty="0">
                <a:solidFill>
                  <a:srgbClr val="3B352E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Next Phase:</a:t>
            </a:r>
          </a:p>
          <a:p>
            <a:pPr marL="510211" lvl="1" indent="-255106" algn="l">
              <a:lnSpc>
                <a:spcPts val="3308"/>
              </a:lnSpc>
              <a:spcBef>
                <a:spcPct val="0"/>
              </a:spcBef>
              <a:buFont typeface="Arial"/>
              <a:buChar char="•"/>
            </a:pPr>
            <a:r>
              <a:rPr lang="en-US" sz="2363" dirty="0">
                <a:solidFill>
                  <a:srgbClr val="3B352E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Phase 2: Enhance recommendation accuracy by incorporating user behavior data and feedback loops.</a:t>
            </a:r>
          </a:p>
          <a:p>
            <a:pPr marL="510211" lvl="1" indent="-255106" algn="l">
              <a:lnSpc>
                <a:spcPts val="3308"/>
              </a:lnSpc>
              <a:spcBef>
                <a:spcPct val="0"/>
              </a:spcBef>
              <a:buFont typeface="Arial"/>
              <a:buChar char="•"/>
            </a:pPr>
            <a:r>
              <a:rPr lang="en-US" sz="2363" dirty="0">
                <a:solidFill>
                  <a:srgbClr val="3B352E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Integrate vector search </a:t>
            </a:r>
            <a:r>
              <a:rPr lang="en-US" sz="2363" dirty="0" err="1">
                <a:solidFill>
                  <a:srgbClr val="3B352E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ChromaDB</a:t>
            </a:r>
            <a:r>
              <a:rPr lang="en-US" sz="2363" dirty="0">
                <a:solidFill>
                  <a:srgbClr val="3B352E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for semantic similarity-based matching.</a:t>
            </a:r>
          </a:p>
          <a:p>
            <a:pPr marL="510211" lvl="1" indent="-255106" algn="l">
              <a:lnSpc>
                <a:spcPts val="3308"/>
              </a:lnSpc>
              <a:spcBef>
                <a:spcPct val="0"/>
              </a:spcBef>
              <a:buFont typeface="Arial"/>
              <a:buChar char="•"/>
            </a:pPr>
            <a:r>
              <a:rPr lang="en-US" sz="2363" dirty="0">
                <a:solidFill>
                  <a:srgbClr val="3B352E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Build a dashboard to visualize recommendation metrics (accuracy, latency, user engagement).</a:t>
            </a:r>
          </a:p>
          <a:p>
            <a:pPr marL="510211" lvl="1" indent="-255106" algn="l">
              <a:lnSpc>
                <a:spcPts val="3308"/>
              </a:lnSpc>
              <a:spcBef>
                <a:spcPct val="0"/>
              </a:spcBef>
              <a:buFont typeface="Arial"/>
              <a:buChar char="•"/>
            </a:pPr>
            <a:r>
              <a:rPr lang="en-US" sz="2363" dirty="0">
                <a:solidFill>
                  <a:srgbClr val="3B352E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Implement continuous evaluation pipeline and A/B testing for model performance comparison.</a:t>
            </a:r>
          </a:p>
          <a:p>
            <a:pPr algn="l">
              <a:lnSpc>
                <a:spcPts val="3308"/>
              </a:lnSpc>
              <a:spcBef>
                <a:spcPct val="0"/>
              </a:spcBef>
            </a:pPr>
            <a:endParaRPr lang="en-US" sz="2363" dirty="0">
              <a:solidFill>
                <a:srgbClr val="3B352E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476375"/>
            <a:ext cx="5572015" cy="488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46"/>
              </a:lnSpc>
            </a:pPr>
            <a:r>
              <a:rPr lang="en-US" sz="2890" b="1">
                <a:solidFill>
                  <a:srgbClr val="3B352E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📚 References 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287791"/>
            <a:ext cx="16560704" cy="6414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21"/>
              </a:lnSpc>
            </a:pPr>
            <a:r>
              <a:rPr lang="en-US" sz="2443" b="1">
                <a:solidFill>
                  <a:srgbClr val="3B352E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Backend Frameworks</a:t>
            </a:r>
          </a:p>
          <a:p>
            <a:pPr marL="527587" lvl="1" indent="-263794" algn="l">
              <a:lnSpc>
                <a:spcPts val="3421"/>
              </a:lnSpc>
              <a:buAutoNum type="arabicPeriod"/>
            </a:pPr>
            <a:r>
              <a:rPr lang="en-US" sz="2443">
                <a:solidFill>
                  <a:srgbClr val="3B352E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Tiangolo, Sebastián. FastAPI Documentation. FastAPI, 2025, </a:t>
            </a:r>
            <a:r>
              <a:rPr lang="en-US" sz="2443" u="sng">
                <a:solidFill>
                  <a:srgbClr val="004AAD"/>
                </a:solidFill>
                <a:latin typeface="Libre Baskerville"/>
                <a:ea typeface="Libre Baskerville"/>
                <a:cs typeface="Libre Baskerville"/>
                <a:sym typeface="Libre Baskerville"/>
                <a:hlinkClick r:id="rId3" tooltip="https://fastapi.tiangolo.com"/>
              </a:rPr>
              <a:t>https://fastapi.tiangolo.com/</a:t>
            </a:r>
            <a:r>
              <a:rPr lang="en-US" sz="2443">
                <a:solidFill>
                  <a:srgbClr val="3B352E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.</a:t>
            </a:r>
          </a:p>
          <a:p>
            <a:pPr marL="527587" lvl="1" indent="-263794" algn="l">
              <a:lnSpc>
                <a:spcPts val="3421"/>
              </a:lnSpc>
              <a:buAutoNum type="arabicPeriod"/>
            </a:pPr>
            <a:r>
              <a:rPr lang="en-US" sz="2443">
                <a:solidFill>
                  <a:srgbClr val="3B352E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Pydantic Developers. Pydantic Documentation. Pydantic, 2025, </a:t>
            </a:r>
            <a:r>
              <a:rPr lang="en-US" sz="2443" u="sng">
                <a:solidFill>
                  <a:srgbClr val="004AAD"/>
                </a:solidFill>
                <a:latin typeface="Libre Baskerville"/>
                <a:ea typeface="Libre Baskerville"/>
                <a:cs typeface="Libre Baskerville"/>
                <a:sym typeface="Libre Baskerville"/>
                <a:hlinkClick r:id="rId4" tooltip="https://docs.pydantic.dev"/>
              </a:rPr>
              <a:t>https://docs.pydantic.dev</a:t>
            </a:r>
            <a:r>
              <a:rPr lang="en-US" sz="2443">
                <a:solidFill>
                  <a:srgbClr val="004AA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/</a:t>
            </a:r>
            <a:r>
              <a:rPr lang="en-US" sz="2443">
                <a:solidFill>
                  <a:srgbClr val="3B352E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.</a:t>
            </a:r>
          </a:p>
          <a:p>
            <a:pPr marL="527587" lvl="1" indent="-263794" algn="l">
              <a:lnSpc>
                <a:spcPts val="3421"/>
              </a:lnSpc>
              <a:buAutoNum type="arabicPeriod"/>
            </a:pPr>
            <a:r>
              <a:rPr lang="en-US" sz="2443">
                <a:solidFill>
                  <a:srgbClr val="3B352E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Uvicorn Developers. Uvicorn Documentation. Encode, 2025, </a:t>
            </a:r>
            <a:r>
              <a:rPr lang="en-US" sz="2443" u="sng">
                <a:solidFill>
                  <a:srgbClr val="004AAD"/>
                </a:solidFill>
                <a:latin typeface="Libre Baskerville"/>
                <a:ea typeface="Libre Baskerville"/>
                <a:cs typeface="Libre Baskerville"/>
                <a:sym typeface="Libre Baskerville"/>
                <a:hlinkClick r:id="rId5" tooltip="https://www.uvicorn.org"/>
              </a:rPr>
              <a:t>https://www.uvicorn.org/</a:t>
            </a:r>
            <a:r>
              <a:rPr lang="en-US" sz="2443">
                <a:solidFill>
                  <a:srgbClr val="3B352E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.</a:t>
            </a:r>
          </a:p>
          <a:p>
            <a:pPr algn="l">
              <a:lnSpc>
                <a:spcPts val="3421"/>
              </a:lnSpc>
            </a:pPr>
            <a:endParaRPr lang="en-US" sz="2443">
              <a:solidFill>
                <a:srgbClr val="3B352E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algn="l">
              <a:lnSpc>
                <a:spcPts val="3421"/>
              </a:lnSpc>
            </a:pPr>
            <a:r>
              <a:rPr lang="en-US" sz="2443" b="1">
                <a:solidFill>
                  <a:srgbClr val="3B352E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AI / LLM Frameworks</a:t>
            </a:r>
          </a:p>
          <a:p>
            <a:pPr marL="527587" lvl="1" indent="-263794" algn="l">
              <a:lnSpc>
                <a:spcPts val="3421"/>
              </a:lnSpc>
              <a:buAutoNum type="arabicPeriod"/>
            </a:pPr>
            <a:r>
              <a:rPr lang="en-US" sz="2443">
                <a:solidFill>
                  <a:srgbClr val="3B352E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OpenAI. OpenAI API Documentation. OpenAI, 2025, </a:t>
            </a:r>
            <a:r>
              <a:rPr lang="en-US" sz="2443" u="sng">
                <a:solidFill>
                  <a:srgbClr val="004AAD"/>
                </a:solidFill>
                <a:latin typeface="Libre Baskerville"/>
                <a:ea typeface="Libre Baskerville"/>
                <a:cs typeface="Libre Baskerville"/>
                <a:sym typeface="Libre Baskerville"/>
                <a:hlinkClick r:id="rId6" tooltip="https://platform.openai.com/docs"/>
              </a:rPr>
              <a:t>https://platform.openai.com/docs</a:t>
            </a:r>
            <a:r>
              <a:rPr lang="en-US" sz="2443">
                <a:solidFill>
                  <a:srgbClr val="3B352E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.</a:t>
            </a:r>
          </a:p>
          <a:p>
            <a:pPr marL="527587" lvl="1" indent="-263794" algn="l">
              <a:lnSpc>
                <a:spcPts val="3421"/>
              </a:lnSpc>
              <a:buAutoNum type="arabicPeriod"/>
            </a:pPr>
            <a:r>
              <a:rPr lang="en-US" sz="2443">
                <a:solidFill>
                  <a:srgbClr val="3B352E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LangChain AI. LangGraph Documentation. LangChain, 2025, </a:t>
            </a:r>
            <a:r>
              <a:rPr lang="en-US" sz="2443" u="sng">
                <a:solidFill>
                  <a:srgbClr val="004AAD"/>
                </a:solidFill>
                <a:latin typeface="Libre Baskerville"/>
                <a:ea typeface="Libre Baskerville"/>
                <a:cs typeface="Libre Baskerville"/>
                <a:sym typeface="Libre Baskerville"/>
                <a:hlinkClick r:id="rId7" tooltip="https://langchain-ai.github.io/langgraph/"/>
              </a:rPr>
              <a:t>https://langchain-ai.github.io/langgraph/</a:t>
            </a:r>
            <a:r>
              <a:rPr lang="en-US" sz="2443">
                <a:solidFill>
                  <a:srgbClr val="3B352E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.</a:t>
            </a:r>
          </a:p>
          <a:p>
            <a:pPr marL="527587" lvl="1" indent="-263794" algn="l">
              <a:lnSpc>
                <a:spcPts val="3421"/>
              </a:lnSpc>
              <a:buAutoNum type="arabicPeriod"/>
            </a:pPr>
            <a:r>
              <a:rPr lang="en-US" sz="2443">
                <a:solidFill>
                  <a:srgbClr val="3B352E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LangChain AI. LangChain Documentation. LangChain, 2025, </a:t>
            </a:r>
            <a:r>
              <a:rPr lang="en-US" sz="2443" u="sng">
                <a:solidFill>
                  <a:srgbClr val="004AAD"/>
                </a:solidFill>
                <a:latin typeface="Libre Baskerville"/>
                <a:ea typeface="Libre Baskerville"/>
                <a:cs typeface="Libre Baskerville"/>
                <a:sym typeface="Libre Baskerville"/>
                <a:hlinkClick r:id="rId8" tooltip="https://python.langchain.com"/>
              </a:rPr>
              <a:t>https://python.langchain.com/</a:t>
            </a:r>
            <a:r>
              <a:rPr lang="en-US" sz="2443">
                <a:solidFill>
                  <a:srgbClr val="3B352E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.</a:t>
            </a:r>
          </a:p>
          <a:p>
            <a:pPr algn="l">
              <a:lnSpc>
                <a:spcPts val="3421"/>
              </a:lnSpc>
            </a:pPr>
            <a:endParaRPr lang="en-US" sz="2443">
              <a:solidFill>
                <a:srgbClr val="3B352E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algn="l">
              <a:lnSpc>
                <a:spcPts val="3421"/>
              </a:lnSpc>
            </a:pPr>
            <a:r>
              <a:rPr lang="en-US" sz="2443" b="1">
                <a:solidFill>
                  <a:srgbClr val="3B352E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Frontend Frameworks</a:t>
            </a:r>
          </a:p>
          <a:p>
            <a:pPr marL="527587" lvl="1" indent="-263794" algn="l">
              <a:lnSpc>
                <a:spcPts val="3421"/>
              </a:lnSpc>
              <a:buAutoNum type="arabicPeriod"/>
            </a:pPr>
            <a:r>
              <a:rPr lang="en-US" sz="2443">
                <a:solidFill>
                  <a:srgbClr val="3B352E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React Community. React Documentation. Meta Platforms, 2025, </a:t>
            </a:r>
            <a:r>
              <a:rPr lang="en-US" sz="2443" u="sng">
                <a:solidFill>
                  <a:srgbClr val="004AAD"/>
                </a:solidFill>
                <a:latin typeface="Libre Baskerville"/>
                <a:ea typeface="Libre Baskerville"/>
                <a:cs typeface="Libre Baskerville"/>
                <a:sym typeface="Libre Baskerville"/>
                <a:hlinkClick r:id="rId9" tooltip="https://react.dev"/>
              </a:rPr>
              <a:t>https://react.dev/</a:t>
            </a:r>
            <a:r>
              <a:rPr lang="en-US" sz="2443">
                <a:solidFill>
                  <a:srgbClr val="3B352E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.</a:t>
            </a:r>
          </a:p>
          <a:p>
            <a:pPr marL="527587" lvl="1" indent="-263794" algn="l">
              <a:lnSpc>
                <a:spcPts val="3421"/>
              </a:lnSpc>
              <a:buAutoNum type="arabicPeriod"/>
            </a:pPr>
            <a:r>
              <a:rPr lang="en-US" sz="2443">
                <a:solidFill>
                  <a:srgbClr val="3B352E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Axios Contributors. Axios Documentation. GitHub, 2025, </a:t>
            </a:r>
            <a:r>
              <a:rPr lang="en-US" sz="2443" u="sng">
                <a:solidFill>
                  <a:srgbClr val="004AAD"/>
                </a:solidFill>
                <a:latin typeface="Libre Baskerville"/>
                <a:ea typeface="Libre Baskerville"/>
                <a:cs typeface="Libre Baskerville"/>
                <a:sym typeface="Libre Baskerville"/>
                <a:hlinkClick r:id="rId10" tooltip="https://axios-http.com"/>
              </a:rPr>
              <a:t>https://axios-http.com/</a:t>
            </a:r>
            <a:r>
              <a:rPr lang="en-US" sz="2443">
                <a:solidFill>
                  <a:srgbClr val="3B352E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.</a:t>
            </a:r>
          </a:p>
          <a:p>
            <a:pPr algn="l">
              <a:lnSpc>
                <a:spcPts val="3421"/>
              </a:lnSpc>
              <a:spcBef>
                <a:spcPct val="0"/>
              </a:spcBef>
            </a:pPr>
            <a:endParaRPr lang="en-US" sz="2443">
              <a:solidFill>
                <a:srgbClr val="3B352E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157857" y="4584937"/>
            <a:ext cx="5972285" cy="1050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35"/>
              </a:lnSpc>
            </a:pPr>
            <a:r>
              <a:rPr lang="en-US" sz="6489">
                <a:solidFill>
                  <a:srgbClr val="3B352E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1263</Words>
  <Application>Microsoft Office PowerPoint</Application>
  <PresentationFormat>Custom</PresentationFormat>
  <Paragraphs>153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Public Sans</vt:lpstr>
      <vt:lpstr>Calibri</vt:lpstr>
      <vt:lpstr>Aptos</vt:lpstr>
      <vt:lpstr>Libre Baskerville Bold</vt:lpstr>
      <vt:lpstr>Libre Baskerville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Phase 1 Presentation</dc:title>
  <cp:lastModifiedBy>Nijgururaj Ashtagi</cp:lastModifiedBy>
  <cp:revision>2</cp:revision>
  <dcterms:created xsi:type="dcterms:W3CDTF">2006-08-16T00:00:00Z</dcterms:created>
  <dcterms:modified xsi:type="dcterms:W3CDTF">2025-10-29T19:44:30Z</dcterms:modified>
  <dc:identifier>DAG282vn1nA</dc:identifier>
</cp:coreProperties>
</file>